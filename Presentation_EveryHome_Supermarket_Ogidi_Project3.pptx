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60"/>
  </p:normalViewPr>
  <p:slideViewPr>
    <p:cSldViewPr snapToGrid="0">
      <p:cViewPr varScale="1">
        <p:scale>
          <a:sx n="100" d="100"/>
          <a:sy n="100" d="100"/>
        </p:scale>
        <p:origin x="10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mac/Downloads/Ogidi_project_supermarket_datase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mac/Downloads/Ogidi_project_supermarket_datase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mac/Downloads/Ogidi_project_supermarket_datase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mac/Downloads/Ogidi_project_supermarket_datase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mac/Downloads/Ogidi_project_supermarket_datase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mac/Downloads/Ogidi_project_supermarket_datase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[EveryHome_Supermarket_Ogidi_project3.xlsx]Sheet17!PivotTable1</c:name>
    <c:fmtId val="6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2246981627296588"/>
          <c:y val="0.17634259259259263"/>
          <c:w val="0.76112270341207344"/>
          <c:h val="0.652681904345290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Sheet17!$B$3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Sheet17!$A$4:$A$16</c:f>
              <c:strCache>
                <c:ptCount val="12"/>
                <c:pt idx="0">
                  <c:v>9</c:v>
                </c:pt>
                <c:pt idx="1">
                  <c:v>10</c:v>
                </c:pt>
                <c:pt idx="2">
                  <c:v>11</c:v>
                </c:pt>
                <c:pt idx="3">
                  <c:v>12</c:v>
                </c:pt>
                <c:pt idx="4">
                  <c:v>13</c:v>
                </c:pt>
                <c:pt idx="5">
                  <c:v>14</c:v>
                </c:pt>
                <c:pt idx="6">
                  <c:v>15</c:v>
                </c:pt>
                <c:pt idx="7">
                  <c:v>16</c:v>
                </c:pt>
                <c:pt idx="8">
                  <c:v>17</c:v>
                </c:pt>
                <c:pt idx="9">
                  <c:v>18</c:v>
                </c:pt>
                <c:pt idx="10">
                  <c:v>19</c:v>
                </c:pt>
                <c:pt idx="11">
                  <c:v>20</c:v>
                </c:pt>
              </c:strCache>
            </c:strRef>
          </c:cat>
          <c:val>
            <c:numRef>
              <c:f>Sheet17!$B$4:$B$16</c:f>
              <c:numCache>
                <c:formatCode>General</c:formatCode>
                <c:ptCount val="12"/>
                <c:pt idx="0">
                  <c:v>1766</c:v>
                </c:pt>
                <c:pt idx="1">
                  <c:v>1736</c:v>
                </c:pt>
                <c:pt idx="2">
                  <c:v>1711</c:v>
                </c:pt>
                <c:pt idx="3">
                  <c:v>1701</c:v>
                </c:pt>
                <c:pt idx="4">
                  <c:v>1748</c:v>
                </c:pt>
                <c:pt idx="5">
                  <c:v>1763</c:v>
                </c:pt>
                <c:pt idx="6">
                  <c:v>1708</c:v>
                </c:pt>
                <c:pt idx="7">
                  <c:v>1753</c:v>
                </c:pt>
                <c:pt idx="8">
                  <c:v>1794</c:v>
                </c:pt>
                <c:pt idx="9">
                  <c:v>1703</c:v>
                </c:pt>
                <c:pt idx="10">
                  <c:v>1832</c:v>
                </c:pt>
                <c:pt idx="11">
                  <c:v>1785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62-A949-995E-44C7848A89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76794847"/>
        <c:axId val="276796559"/>
      </c:barChart>
      <c:catAx>
        <c:axId val="27679484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Hour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6796559"/>
        <c:crosses val="autoZero"/>
        <c:auto val="1"/>
        <c:lblAlgn val="ctr"/>
        <c:lblOffset val="100"/>
        <c:noMultiLvlLbl val="0"/>
      </c:catAx>
      <c:valAx>
        <c:axId val="2767965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Count</a:t>
                </a:r>
                <a:r>
                  <a:rPr lang="en-GB" baseline="0"/>
                  <a:t> ID 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67948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[EveryHome_Supermarket_Ogidi_project3.xlsx]Sheet6!PivotTable9</c:name>
    <c:fmtId val="10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3576992125984252"/>
          <c:y val="5.0925925925925923E-2"/>
          <c:w val="0.65923480314960625"/>
          <c:h val="0.84171296296296294"/>
        </c:manualLayout>
      </c:layout>
      <c:bar3DChart>
        <c:barDir val="col"/>
        <c:grouping val="stacked"/>
        <c:varyColors val="0"/>
        <c:ser>
          <c:idx val="0"/>
          <c:order val="0"/>
          <c:tx>
            <c:strRef>
              <c:f>Sheet6!$B$3:$B$5</c:f>
              <c:strCache>
                <c:ptCount val="1"/>
                <c:pt idx="0">
                  <c:v>Count of Invoice ID - 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Sheet6!$A$6:$A$8</c:f>
              <c:strCache>
                <c:ptCount val="2"/>
                <c:pt idx="0">
                  <c:v>Member</c:v>
                </c:pt>
                <c:pt idx="1">
                  <c:v>Normal</c:v>
                </c:pt>
              </c:strCache>
            </c:strRef>
          </c:cat>
          <c:val>
            <c:numRef>
              <c:f>Sheet6!$B$6:$B$8</c:f>
              <c:numCache>
                <c:formatCode>General</c:formatCode>
                <c:ptCount val="2"/>
                <c:pt idx="0">
                  <c:v>3454</c:v>
                </c:pt>
                <c:pt idx="1">
                  <c:v>3488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A8-3D46-A2E0-65C2B8A88382}"/>
            </c:ext>
          </c:extLst>
        </c:ser>
        <c:ser>
          <c:idx val="1"/>
          <c:order val="1"/>
          <c:tx>
            <c:strRef>
              <c:f>Sheet6!$C$3:$C$5</c:f>
              <c:strCache>
                <c:ptCount val="1"/>
                <c:pt idx="0">
                  <c:v>Count of Invoice ID - B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Sheet6!$A$6:$A$8</c:f>
              <c:strCache>
                <c:ptCount val="2"/>
                <c:pt idx="0">
                  <c:v>Member</c:v>
                </c:pt>
                <c:pt idx="1">
                  <c:v>Normal</c:v>
                </c:pt>
              </c:strCache>
            </c:strRef>
          </c:cat>
          <c:val>
            <c:numRef>
              <c:f>Sheet6!$C$6:$C$8</c:f>
              <c:numCache>
                <c:formatCode>General</c:formatCode>
                <c:ptCount val="2"/>
                <c:pt idx="0">
                  <c:v>3527</c:v>
                </c:pt>
                <c:pt idx="1">
                  <c:v>3432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A8-3D46-A2E0-65C2B8A88382}"/>
            </c:ext>
          </c:extLst>
        </c:ser>
        <c:ser>
          <c:idx val="2"/>
          <c:order val="2"/>
          <c:tx>
            <c:strRef>
              <c:f>Sheet6!$D$3:$D$5</c:f>
              <c:strCache>
                <c:ptCount val="1"/>
                <c:pt idx="0">
                  <c:v>Count of Invoice ID - C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Sheet6!$A$6:$A$8</c:f>
              <c:strCache>
                <c:ptCount val="2"/>
                <c:pt idx="0">
                  <c:v>Member</c:v>
                </c:pt>
                <c:pt idx="1">
                  <c:v>Normal</c:v>
                </c:pt>
              </c:strCache>
            </c:strRef>
          </c:cat>
          <c:val>
            <c:numRef>
              <c:f>Sheet6!$D$6:$D$8</c:f>
              <c:numCache>
                <c:formatCode>General</c:formatCode>
                <c:ptCount val="2"/>
                <c:pt idx="0">
                  <c:v>3629</c:v>
                </c:pt>
                <c:pt idx="1">
                  <c:v>3470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3A8-3D46-A2E0-65C2B8A88382}"/>
            </c:ext>
          </c:extLst>
        </c:ser>
        <c:ser>
          <c:idx val="3"/>
          <c:order val="3"/>
          <c:tx>
            <c:strRef>
              <c:f>Sheet6!$E$3:$E$5</c:f>
              <c:strCache>
                <c:ptCount val="1"/>
                <c:pt idx="0">
                  <c:v>Sum of Total - A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  <a:sp3d/>
          </c:spPr>
          <c:invertIfNegative val="0"/>
          <c:cat>
            <c:strRef>
              <c:f>Sheet6!$A$6:$A$8</c:f>
              <c:strCache>
                <c:ptCount val="2"/>
                <c:pt idx="0">
                  <c:v>Member</c:v>
                </c:pt>
                <c:pt idx="1">
                  <c:v>Normal</c:v>
                </c:pt>
              </c:strCache>
            </c:strRef>
          </c:cat>
          <c:val>
            <c:numRef>
              <c:f>Sheet6!$E$6:$E$8</c:f>
              <c:numCache>
                <c:formatCode>General</c:formatCode>
                <c:ptCount val="2"/>
                <c:pt idx="0">
                  <c:v>107586074.76999983</c:v>
                </c:pt>
                <c:pt idx="1">
                  <c:v>111840651.7899999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3A8-3D46-A2E0-65C2B8A88382}"/>
            </c:ext>
          </c:extLst>
        </c:ser>
        <c:ser>
          <c:idx val="4"/>
          <c:order val="4"/>
          <c:tx>
            <c:strRef>
              <c:f>Sheet6!$F$3:$F$5</c:f>
              <c:strCache>
                <c:ptCount val="1"/>
                <c:pt idx="0">
                  <c:v>Sum of Total - B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  <a:sp3d/>
          </c:spPr>
          <c:invertIfNegative val="0"/>
          <c:cat>
            <c:strRef>
              <c:f>Sheet6!$A$6:$A$8</c:f>
              <c:strCache>
                <c:ptCount val="2"/>
                <c:pt idx="0">
                  <c:v>Member</c:v>
                </c:pt>
                <c:pt idx="1">
                  <c:v>Normal</c:v>
                </c:pt>
              </c:strCache>
            </c:strRef>
          </c:cat>
          <c:val>
            <c:numRef>
              <c:f>Sheet6!$F$6:$F$8</c:f>
              <c:numCache>
                <c:formatCode>General</c:formatCode>
                <c:ptCount val="2"/>
                <c:pt idx="0">
                  <c:v>112009662.45999983</c:v>
                </c:pt>
                <c:pt idx="1">
                  <c:v>107653638.19999984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3A8-3D46-A2E0-65C2B8A88382}"/>
            </c:ext>
          </c:extLst>
        </c:ser>
        <c:ser>
          <c:idx val="5"/>
          <c:order val="5"/>
          <c:tx>
            <c:strRef>
              <c:f>Sheet6!$G$3:$G$5</c:f>
              <c:strCache>
                <c:ptCount val="1"/>
                <c:pt idx="0">
                  <c:v>Sum of Total - C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  <a:sp3d/>
          </c:spPr>
          <c:invertIfNegative val="0"/>
          <c:cat>
            <c:strRef>
              <c:f>Sheet6!$A$6:$A$8</c:f>
              <c:strCache>
                <c:ptCount val="2"/>
                <c:pt idx="0">
                  <c:v>Member</c:v>
                </c:pt>
                <c:pt idx="1">
                  <c:v>Normal</c:v>
                </c:pt>
              </c:strCache>
            </c:strRef>
          </c:cat>
          <c:val>
            <c:numRef>
              <c:f>Sheet6!$G$6:$G$8</c:f>
              <c:numCache>
                <c:formatCode>General</c:formatCode>
                <c:ptCount val="2"/>
                <c:pt idx="0">
                  <c:v>115692196.89999978</c:v>
                </c:pt>
                <c:pt idx="1">
                  <c:v>112000841.16000004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3A8-3D46-A2E0-65C2B8A883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501114879"/>
        <c:axId val="530038895"/>
        <c:axId val="0"/>
      </c:bar3DChart>
      <c:catAx>
        <c:axId val="501114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0038895"/>
        <c:crosses val="autoZero"/>
        <c:auto val="1"/>
        <c:lblAlgn val="ctr"/>
        <c:lblOffset val="100"/>
        <c:noMultiLvlLbl val="0"/>
      </c:catAx>
      <c:valAx>
        <c:axId val="5300388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11148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[EveryHome_Supermarket_Ogidi_project3.xlsx]Sheet18!PivotTable1</c:name>
    <c:fmtId val="5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Sheet18!$B$3:$B$5</c:f>
              <c:strCache>
                <c:ptCount val="1"/>
                <c:pt idx="0">
                  <c:v>Count of Invoice ID - Female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Sheet18!$A$6:$A$13</c:f>
              <c:strCache>
                <c:ptCount val="7"/>
                <c:pt idx="0">
                  <c:v>Electronic Accessories</c:v>
                </c:pt>
                <c:pt idx="1">
                  <c:v>Fashion Accessories</c:v>
                </c:pt>
                <c:pt idx="2">
                  <c:v>Food &amp; Beverages</c:v>
                </c:pt>
                <c:pt idx="3">
                  <c:v>Health &amp; Beauty</c:v>
                </c:pt>
                <c:pt idx="4">
                  <c:v>Home &amp; Lifestyle</c:v>
                </c:pt>
                <c:pt idx="5">
                  <c:v>Sports &amp; Travel</c:v>
                </c:pt>
                <c:pt idx="6">
                  <c:v>(blank)</c:v>
                </c:pt>
              </c:strCache>
            </c:strRef>
          </c:cat>
          <c:val>
            <c:numRef>
              <c:f>Sheet18!$B$6:$B$13</c:f>
              <c:numCache>
                <c:formatCode>General</c:formatCode>
                <c:ptCount val="7"/>
                <c:pt idx="0">
                  <c:v>1730</c:v>
                </c:pt>
                <c:pt idx="1">
                  <c:v>1735</c:v>
                </c:pt>
                <c:pt idx="2">
                  <c:v>1721</c:v>
                </c:pt>
                <c:pt idx="3">
                  <c:v>1743</c:v>
                </c:pt>
                <c:pt idx="4">
                  <c:v>1809</c:v>
                </c:pt>
                <c:pt idx="5">
                  <c:v>1763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A5-AD4B-A5A7-FFAFC7FF8EA6}"/>
            </c:ext>
          </c:extLst>
        </c:ser>
        <c:ser>
          <c:idx val="1"/>
          <c:order val="1"/>
          <c:tx>
            <c:strRef>
              <c:f>Sheet18!$C$3:$C$5</c:f>
              <c:strCache>
                <c:ptCount val="1"/>
                <c:pt idx="0">
                  <c:v>Count of Invoice ID - Male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Sheet18!$A$6:$A$13</c:f>
              <c:strCache>
                <c:ptCount val="7"/>
                <c:pt idx="0">
                  <c:v>Electronic Accessories</c:v>
                </c:pt>
                <c:pt idx="1">
                  <c:v>Fashion Accessories</c:v>
                </c:pt>
                <c:pt idx="2">
                  <c:v>Food &amp; Beverages</c:v>
                </c:pt>
                <c:pt idx="3">
                  <c:v>Health &amp; Beauty</c:v>
                </c:pt>
                <c:pt idx="4">
                  <c:v>Home &amp; Lifestyle</c:v>
                </c:pt>
                <c:pt idx="5">
                  <c:v>Sports &amp; Travel</c:v>
                </c:pt>
                <c:pt idx="6">
                  <c:v>(blank)</c:v>
                </c:pt>
              </c:strCache>
            </c:strRef>
          </c:cat>
          <c:val>
            <c:numRef>
              <c:f>Sheet18!$C$6:$C$13</c:f>
              <c:numCache>
                <c:formatCode>General</c:formatCode>
                <c:ptCount val="7"/>
                <c:pt idx="0">
                  <c:v>1816</c:v>
                </c:pt>
                <c:pt idx="1">
                  <c:v>1695</c:v>
                </c:pt>
                <c:pt idx="2">
                  <c:v>1789</c:v>
                </c:pt>
                <c:pt idx="3">
                  <c:v>1741</c:v>
                </c:pt>
                <c:pt idx="4">
                  <c:v>1718</c:v>
                </c:pt>
                <c:pt idx="5">
                  <c:v>1740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AA5-AD4B-A5A7-FFAFC7FF8EA6}"/>
            </c:ext>
          </c:extLst>
        </c:ser>
        <c:ser>
          <c:idx val="2"/>
          <c:order val="2"/>
          <c:tx>
            <c:strRef>
              <c:f>Sheet18!$D$3:$D$5</c:f>
              <c:strCache>
                <c:ptCount val="1"/>
                <c:pt idx="0">
                  <c:v>Count of Invoice ID - (blank)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Sheet18!$A$6:$A$13</c:f>
              <c:strCache>
                <c:ptCount val="7"/>
                <c:pt idx="0">
                  <c:v>Electronic Accessories</c:v>
                </c:pt>
                <c:pt idx="1">
                  <c:v>Fashion Accessories</c:v>
                </c:pt>
                <c:pt idx="2">
                  <c:v>Food &amp; Beverages</c:v>
                </c:pt>
                <c:pt idx="3">
                  <c:v>Health &amp; Beauty</c:v>
                </c:pt>
                <c:pt idx="4">
                  <c:v>Home &amp; Lifestyle</c:v>
                </c:pt>
                <c:pt idx="5">
                  <c:v>Sports &amp; Travel</c:v>
                </c:pt>
                <c:pt idx="6">
                  <c:v>(blank)</c:v>
                </c:pt>
              </c:strCache>
            </c:strRef>
          </c:cat>
          <c:val>
            <c:numRef>
              <c:f>Sheet18!$D$6:$D$13</c:f>
              <c:numCache>
                <c:formatCode>General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6-AAA5-AD4B-A5A7-FFAFC7FF8EA6}"/>
            </c:ext>
          </c:extLst>
        </c:ser>
        <c:ser>
          <c:idx val="3"/>
          <c:order val="3"/>
          <c:tx>
            <c:strRef>
              <c:f>Sheet18!$E$3:$E$5</c:f>
              <c:strCache>
                <c:ptCount val="1"/>
                <c:pt idx="0">
                  <c:v>Sum of Total - Female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Sheet18!$A$6:$A$13</c:f>
              <c:strCache>
                <c:ptCount val="7"/>
                <c:pt idx="0">
                  <c:v>Electronic Accessories</c:v>
                </c:pt>
                <c:pt idx="1">
                  <c:v>Fashion Accessories</c:v>
                </c:pt>
                <c:pt idx="2">
                  <c:v>Food &amp; Beverages</c:v>
                </c:pt>
                <c:pt idx="3">
                  <c:v>Health &amp; Beauty</c:v>
                </c:pt>
                <c:pt idx="4">
                  <c:v>Home &amp; Lifestyle</c:v>
                </c:pt>
                <c:pt idx="5">
                  <c:v>Sports &amp; Travel</c:v>
                </c:pt>
                <c:pt idx="6">
                  <c:v>(blank)</c:v>
                </c:pt>
              </c:strCache>
            </c:strRef>
          </c:cat>
          <c:val>
            <c:numRef>
              <c:f>Sheet18!$E$6:$E$13</c:f>
              <c:numCache>
                <c:formatCode>General</c:formatCode>
                <c:ptCount val="7"/>
                <c:pt idx="0">
                  <c:v>54343549.349999942</c:v>
                </c:pt>
                <c:pt idx="1">
                  <c:v>54341405.429999992</c:v>
                </c:pt>
                <c:pt idx="2">
                  <c:v>54739216.169999994</c:v>
                </c:pt>
                <c:pt idx="3">
                  <c:v>55937315.989999995</c:v>
                </c:pt>
                <c:pt idx="4">
                  <c:v>57695250.489999972</c:v>
                </c:pt>
                <c:pt idx="5">
                  <c:v>56205155.649999879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AAA5-AD4B-A5A7-FFAFC7FF8EA6}"/>
            </c:ext>
          </c:extLst>
        </c:ser>
        <c:ser>
          <c:idx val="4"/>
          <c:order val="4"/>
          <c:tx>
            <c:strRef>
              <c:f>Sheet18!$F$3:$F$5</c:f>
              <c:strCache>
                <c:ptCount val="1"/>
                <c:pt idx="0">
                  <c:v>Sum of Total - Male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Sheet18!$A$6:$A$13</c:f>
              <c:strCache>
                <c:ptCount val="7"/>
                <c:pt idx="0">
                  <c:v>Electronic Accessories</c:v>
                </c:pt>
                <c:pt idx="1">
                  <c:v>Fashion Accessories</c:v>
                </c:pt>
                <c:pt idx="2">
                  <c:v>Food &amp; Beverages</c:v>
                </c:pt>
                <c:pt idx="3">
                  <c:v>Health &amp; Beauty</c:v>
                </c:pt>
                <c:pt idx="4">
                  <c:v>Home &amp; Lifestyle</c:v>
                </c:pt>
                <c:pt idx="5">
                  <c:v>Sports &amp; Travel</c:v>
                </c:pt>
                <c:pt idx="6">
                  <c:v>(blank)</c:v>
                </c:pt>
              </c:strCache>
            </c:strRef>
          </c:cat>
          <c:val>
            <c:numRef>
              <c:f>Sheet18!$F$6:$F$13</c:f>
              <c:numCache>
                <c:formatCode>General</c:formatCode>
                <c:ptCount val="7"/>
                <c:pt idx="0">
                  <c:v>57549970.209999993</c:v>
                </c:pt>
                <c:pt idx="1">
                  <c:v>53420416.390000023</c:v>
                </c:pt>
                <c:pt idx="2">
                  <c:v>56191200.419999994</c:v>
                </c:pt>
                <c:pt idx="3">
                  <c:v>56131104.67999991</c:v>
                </c:pt>
                <c:pt idx="4">
                  <c:v>53848246.929999925</c:v>
                </c:pt>
                <c:pt idx="5">
                  <c:v>56380233.57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AA5-AD4B-A5A7-FFAFC7FF8EA6}"/>
            </c:ext>
          </c:extLst>
        </c:ser>
        <c:ser>
          <c:idx val="5"/>
          <c:order val="5"/>
          <c:tx>
            <c:strRef>
              <c:f>Sheet18!$G$3:$G$5</c:f>
              <c:strCache>
                <c:ptCount val="1"/>
                <c:pt idx="0">
                  <c:v>Sum of Total - (blank)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Sheet18!$A$6:$A$13</c:f>
              <c:strCache>
                <c:ptCount val="7"/>
                <c:pt idx="0">
                  <c:v>Electronic Accessories</c:v>
                </c:pt>
                <c:pt idx="1">
                  <c:v>Fashion Accessories</c:v>
                </c:pt>
                <c:pt idx="2">
                  <c:v>Food &amp; Beverages</c:v>
                </c:pt>
                <c:pt idx="3">
                  <c:v>Health &amp; Beauty</c:v>
                </c:pt>
                <c:pt idx="4">
                  <c:v>Home &amp; Lifestyle</c:v>
                </c:pt>
                <c:pt idx="5">
                  <c:v>Sports &amp; Travel</c:v>
                </c:pt>
                <c:pt idx="6">
                  <c:v>(blank)</c:v>
                </c:pt>
              </c:strCache>
            </c:strRef>
          </c:cat>
          <c:val>
            <c:numRef>
              <c:f>Sheet18!$G$6:$G$13</c:f>
              <c:numCache>
                <c:formatCode>General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B-AAA5-AD4B-A5A7-FFAFC7FF8E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67781199"/>
        <c:axId val="1755718479"/>
      </c:barChart>
      <c:catAx>
        <c:axId val="17677811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5718479"/>
        <c:crosses val="autoZero"/>
        <c:auto val="1"/>
        <c:lblAlgn val="ctr"/>
        <c:lblOffset val="100"/>
        <c:noMultiLvlLbl val="0"/>
      </c:catAx>
      <c:valAx>
        <c:axId val="17557184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77811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[EveryHome_Supermarket_Ogidi_project3.xlsx]Sheet21!PivotTable2</c:name>
    <c:fmtId val="5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Sheet21!$B$3:$B$5</c:f>
              <c:strCache>
                <c:ptCount val="1"/>
                <c:pt idx="0">
                  <c:v>Female - Count of Invoice ID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Sheet21!$A$6:$A$13</c:f>
              <c:strCache>
                <c:ptCount val="7"/>
                <c:pt idx="0">
                  <c:v>Electronic Accessories</c:v>
                </c:pt>
                <c:pt idx="1">
                  <c:v>Fashion Accessories</c:v>
                </c:pt>
                <c:pt idx="2">
                  <c:v>Food &amp; Beverages</c:v>
                </c:pt>
                <c:pt idx="3">
                  <c:v>Health &amp; Beauty</c:v>
                </c:pt>
                <c:pt idx="4">
                  <c:v>Home &amp; Lifestyle</c:v>
                </c:pt>
                <c:pt idx="5">
                  <c:v>Sports &amp; Travel</c:v>
                </c:pt>
                <c:pt idx="6">
                  <c:v>(blank)</c:v>
                </c:pt>
              </c:strCache>
            </c:strRef>
          </c:cat>
          <c:val>
            <c:numRef>
              <c:f>Sheet21!$B$6:$B$13</c:f>
              <c:numCache>
                <c:formatCode>General</c:formatCode>
                <c:ptCount val="7"/>
                <c:pt idx="0">
                  <c:v>1730</c:v>
                </c:pt>
                <c:pt idx="1">
                  <c:v>1735</c:v>
                </c:pt>
                <c:pt idx="2">
                  <c:v>1721</c:v>
                </c:pt>
                <c:pt idx="3">
                  <c:v>1743</c:v>
                </c:pt>
                <c:pt idx="4">
                  <c:v>1809</c:v>
                </c:pt>
                <c:pt idx="5">
                  <c:v>1763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35-B146-9B61-786A14CC5CC1}"/>
            </c:ext>
          </c:extLst>
        </c:ser>
        <c:ser>
          <c:idx val="1"/>
          <c:order val="1"/>
          <c:tx>
            <c:strRef>
              <c:f>Sheet21!$C$3:$C$5</c:f>
              <c:strCache>
                <c:ptCount val="1"/>
                <c:pt idx="0">
                  <c:v>Female - Sum of Quantity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Sheet21!$A$6:$A$13</c:f>
              <c:strCache>
                <c:ptCount val="7"/>
                <c:pt idx="0">
                  <c:v>Electronic Accessories</c:v>
                </c:pt>
                <c:pt idx="1">
                  <c:v>Fashion Accessories</c:v>
                </c:pt>
                <c:pt idx="2">
                  <c:v>Food &amp; Beverages</c:v>
                </c:pt>
                <c:pt idx="3">
                  <c:v>Health &amp; Beauty</c:v>
                </c:pt>
                <c:pt idx="4">
                  <c:v>Home &amp; Lifestyle</c:v>
                </c:pt>
                <c:pt idx="5">
                  <c:v>Sports &amp; Travel</c:v>
                </c:pt>
                <c:pt idx="6">
                  <c:v>(blank)</c:v>
                </c:pt>
              </c:strCache>
            </c:strRef>
          </c:cat>
          <c:val>
            <c:numRef>
              <c:f>Sheet21!$C$6:$C$13</c:f>
              <c:numCache>
                <c:formatCode>General</c:formatCode>
                <c:ptCount val="7"/>
                <c:pt idx="0">
                  <c:v>9534</c:v>
                </c:pt>
                <c:pt idx="1">
                  <c:v>9450</c:v>
                </c:pt>
                <c:pt idx="2">
                  <c:v>9542</c:v>
                </c:pt>
                <c:pt idx="3">
                  <c:v>9639</c:v>
                </c:pt>
                <c:pt idx="4">
                  <c:v>10158</c:v>
                </c:pt>
                <c:pt idx="5">
                  <c:v>9645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35-B146-9B61-786A14CC5CC1}"/>
            </c:ext>
          </c:extLst>
        </c:ser>
        <c:ser>
          <c:idx val="2"/>
          <c:order val="2"/>
          <c:tx>
            <c:strRef>
              <c:f>Sheet21!$D$3:$D$5</c:f>
              <c:strCache>
                <c:ptCount val="1"/>
                <c:pt idx="0">
                  <c:v>Male - Count of Invoice ID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Sheet21!$A$6:$A$13</c:f>
              <c:strCache>
                <c:ptCount val="7"/>
                <c:pt idx="0">
                  <c:v>Electronic Accessories</c:v>
                </c:pt>
                <c:pt idx="1">
                  <c:v>Fashion Accessories</c:v>
                </c:pt>
                <c:pt idx="2">
                  <c:v>Food &amp; Beverages</c:v>
                </c:pt>
                <c:pt idx="3">
                  <c:v>Health &amp; Beauty</c:v>
                </c:pt>
                <c:pt idx="4">
                  <c:v>Home &amp; Lifestyle</c:v>
                </c:pt>
                <c:pt idx="5">
                  <c:v>Sports &amp; Travel</c:v>
                </c:pt>
                <c:pt idx="6">
                  <c:v>(blank)</c:v>
                </c:pt>
              </c:strCache>
            </c:strRef>
          </c:cat>
          <c:val>
            <c:numRef>
              <c:f>Sheet21!$D$6:$D$13</c:f>
              <c:numCache>
                <c:formatCode>General</c:formatCode>
                <c:ptCount val="7"/>
                <c:pt idx="0">
                  <c:v>1816</c:v>
                </c:pt>
                <c:pt idx="1">
                  <c:v>1695</c:v>
                </c:pt>
                <c:pt idx="2">
                  <c:v>1789</c:v>
                </c:pt>
                <c:pt idx="3">
                  <c:v>1741</c:v>
                </c:pt>
                <c:pt idx="4">
                  <c:v>1718</c:v>
                </c:pt>
                <c:pt idx="5">
                  <c:v>1740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835-B146-9B61-786A14CC5CC1}"/>
            </c:ext>
          </c:extLst>
        </c:ser>
        <c:ser>
          <c:idx val="3"/>
          <c:order val="3"/>
          <c:tx>
            <c:strRef>
              <c:f>Sheet21!$E$3:$E$5</c:f>
              <c:strCache>
                <c:ptCount val="1"/>
                <c:pt idx="0">
                  <c:v>Male - Sum of Quantity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Sheet21!$A$6:$A$13</c:f>
              <c:strCache>
                <c:ptCount val="7"/>
                <c:pt idx="0">
                  <c:v>Electronic Accessories</c:v>
                </c:pt>
                <c:pt idx="1">
                  <c:v>Fashion Accessories</c:v>
                </c:pt>
                <c:pt idx="2">
                  <c:v>Food &amp; Beverages</c:v>
                </c:pt>
                <c:pt idx="3">
                  <c:v>Health &amp; Beauty</c:v>
                </c:pt>
                <c:pt idx="4">
                  <c:v>Home &amp; Lifestyle</c:v>
                </c:pt>
                <c:pt idx="5">
                  <c:v>Sports &amp; Travel</c:v>
                </c:pt>
                <c:pt idx="6">
                  <c:v>(blank)</c:v>
                </c:pt>
              </c:strCache>
            </c:strRef>
          </c:cat>
          <c:val>
            <c:numRef>
              <c:f>Sheet21!$E$6:$E$13</c:f>
              <c:numCache>
                <c:formatCode>General</c:formatCode>
                <c:ptCount val="7"/>
                <c:pt idx="0">
                  <c:v>9910</c:v>
                </c:pt>
                <c:pt idx="1">
                  <c:v>9196</c:v>
                </c:pt>
                <c:pt idx="2">
                  <c:v>9892</c:v>
                </c:pt>
                <c:pt idx="3">
                  <c:v>9543</c:v>
                </c:pt>
                <c:pt idx="4">
                  <c:v>9336</c:v>
                </c:pt>
                <c:pt idx="5">
                  <c:v>9696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B835-B146-9B61-786A14CC5CC1}"/>
            </c:ext>
          </c:extLst>
        </c:ser>
        <c:ser>
          <c:idx val="4"/>
          <c:order val="4"/>
          <c:tx>
            <c:strRef>
              <c:f>Sheet21!$F$3:$F$5</c:f>
              <c:strCache>
                <c:ptCount val="1"/>
                <c:pt idx="0">
                  <c:v>(blank) - Count of Invoice ID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Sheet21!$A$6:$A$13</c:f>
              <c:strCache>
                <c:ptCount val="7"/>
                <c:pt idx="0">
                  <c:v>Electronic Accessories</c:v>
                </c:pt>
                <c:pt idx="1">
                  <c:v>Fashion Accessories</c:v>
                </c:pt>
                <c:pt idx="2">
                  <c:v>Food &amp; Beverages</c:v>
                </c:pt>
                <c:pt idx="3">
                  <c:v>Health &amp; Beauty</c:v>
                </c:pt>
                <c:pt idx="4">
                  <c:v>Home &amp; Lifestyle</c:v>
                </c:pt>
                <c:pt idx="5">
                  <c:v>Sports &amp; Travel</c:v>
                </c:pt>
                <c:pt idx="6">
                  <c:v>(blank)</c:v>
                </c:pt>
              </c:strCache>
            </c:strRef>
          </c:cat>
          <c:val>
            <c:numRef>
              <c:f>Sheet21!$F$6:$F$13</c:f>
              <c:numCache>
                <c:formatCode>General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A-B835-B146-9B61-786A14CC5CC1}"/>
            </c:ext>
          </c:extLst>
        </c:ser>
        <c:ser>
          <c:idx val="5"/>
          <c:order val="5"/>
          <c:tx>
            <c:strRef>
              <c:f>Sheet21!$G$3:$G$5</c:f>
              <c:strCache>
                <c:ptCount val="1"/>
                <c:pt idx="0">
                  <c:v>(blank) - Sum of Quantity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Sheet21!$A$6:$A$13</c:f>
              <c:strCache>
                <c:ptCount val="7"/>
                <c:pt idx="0">
                  <c:v>Electronic Accessories</c:v>
                </c:pt>
                <c:pt idx="1">
                  <c:v>Fashion Accessories</c:v>
                </c:pt>
                <c:pt idx="2">
                  <c:v>Food &amp; Beverages</c:v>
                </c:pt>
                <c:pt idx="3">
                  <c:v>Health &amp; Beauty</c:v>
                </c:pt>
                <c:pt idx="4">
                  <c:v>Home &amp; Lifestyle</c:v>
                </c:pt>
                <c:pt idx="5">
                  <c:v>Sports &amp; Travel</c:v>
                </c:pt>
                <c:pt idx="6">
                  <c:v>(blank)</c:v>
                </c:pt>
              </c:strCache>
            </c:strRef>
          </c:cat>
          <c:val>
            <c:numRef>
              <c:f>Sheet21!$G$6:$G$13</c:f>
              <c:numCache>
                <c:formatCode>General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B-B835-B146-9B61-786A14CC5C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91503439"/>
        <c:axId val="1391530111"/>
      </c:barChart>
      <c:catAx>
        <c:axId val="13915034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1530111"/>
        <c:crosses val="autoZero"/>
        <c:auto val="1"/>
        <c:lblAlgn val="ctr"/>
        <c:lblOffset val="100"/>
        <c:noMultiLvlLbl val="0"/>
      </c:catAx>
      <c:valAx>
        <c:axId val="13915301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15034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[EveryHome_Supermarket_Ogidi_project3.xlsx]Sheet10!PivotTable1</c:name>
    <c:fmtId val="11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Sheet10!$B$3:$B$4</c:f>
              <c:strCache>
                <c:ptCount val="1"/>
                <c:pt idx="0">
                  <c:v>(blank)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Sheet10!$A$5:$A$9</c:f>
              <c:strCache>
                <c:ptCount val="4"/>
                <c:pt idx="0">
                  <c:v>Austin</c:v>
                </c:pt>
                <c:pt idx="1">
                  <c:v>Chicago</c:v>
                </c:pt>
                <c:pt idx="2">
                  <c:v>New York</c:v>
                </c:pt>
                <c:pt idx="3">
                  <c:v>(blank)</c:v>
                </c:pt>
              </c:strCache>
            </c:strRef>
          </c:cat>
          <c:val>
            <c:numRef>
              <c:f>Sheet10!$B$5:$B$9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0-69F1-BB44-8EE2-A74FB286B7BB}"/>
            </c:ext>
          </c:extLst>
        </c:ser>
        <c:ser>
          <c:idx val="1"/>
          <c:order val="1"/>
          <c:tx>
            <c:strRef>
              <c:f>Sheet10!$C$3:$C$4</c:f>
              <c:strCache>
                <c:ptCount val="1"/>
                <c:pt idx="0">
                  <c:v>4-6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Sheet10!$A$5:$A$9</c:f>
              <c:strCache>
                <c:ptCount val="4"/>
                <c:pt idx="0">
                  <c:v>Austin</c:v>
                </c:pt>
                <c:pt idx="1">
                  <c:v>Chicago</c:v>
                </c:pt>
                <c:pt idx="2">
                  <c:v>New York</c:v>
                </c:pt>
                <c:pt idx="3">
                  <c:v>(blank)</c:v>
                </c:pt>
              </c:strCache>
            </c:strRef>
          </c:cat>
          <c:val>
            <c:numRef>
              <c:f>Sheet10!$C$5:$C$9</c:f>
              <c:numCache>
                <c:formatCode>General</c:formatCode>
                <c:ptCount val="4"/>
                <c:pt idx="0">
                  <c:v>2294</c:v>
                </c:pt>
                <c:pt idx="1">
                  <c:v>2298</c:v>
                </c:pt>
                <c:pt idx="2">
                  <c:v>2169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9F1-BB44-8EE2-A74FB286B7BB}"/>
            </c:ext>
          </c:extLst>
        </c:ser>
        <c:ser>
          <c:idx val="2"/>
          <c:order val="2"/>
          <c:tx>
            <c:strRef>
              <c:f>Sheet10!$D$3:$D$4</c:f>
              <c:strCache>
                <c:ptCount val="1"/>
                <c:pt idx="0">
                  <c:v>6-8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Sheet10!$A$5:$A$9</c:f>
              <c:strCache>
                <c:ptCount val="4"/>
                <c:pt idx="0">
                  <c:v>Austin</c:v>
                </c:pt>
                <c:pt idx="1">
                  <c:v>Chicago</c:v>
                </c:pt>
                <c:pt idx="2">
                  <c:v>New York</c:v>
                </c:pt>
                <c:pt idx="3">
                  <c:v>(blank)</c:v>
                </c:pt>
              </c:strCache>
            </c:strRef>
          </c:cat>
          <c:val>
            <c:numRef>
              <c:f>Sheet10!$D$5:$D$9</c:f>
              <c:numCache>
                <c:formatCode>General</c:formatCode>
                <c:ptCount val="4"/>
                <c:pt idx="0">
                  <c:v>2325</c:v>
                </c:pt>
                <c:pt idx="1">
                  <c:v>2390</c:v>
                </c:pt>
                <c:pt idx="2">
                  <c:v>2431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9F1-BB44-8EE2-A74FB286B7BB}"/>
            </c:ext>
          </c:extLst>
        </c:ser>
        <c:ser>
          <c:idx val="3"/>
          <c:order val="3"/>
          <c:tx>
            <c:strRef>
              <c:f>Sheet10!$E$3:$E$4</c:f>
              <c:strCache>
                <c:ptCount val="1"/>
                <c:pt idx="0">
                  <c:v>8-10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Sheet10!$A$5:$A$9</c:f>
              <c:strCache>
                <c:ptCount val="4"/>
                <c:pt idx="0">
                  <c:v>Austin</c:v>
                </c:pt>
                <c:pt idx="1">
                  <c:v>Chicago</c:v>
                </c:pt>
                <c:pt idx="2">
                  <c:v>New York</c:v>
                </c:pt>
                <c:pt idx="3">
                  <c:v>(blank)</c:v>
                </c:pt>
              </c:strCache>
            </c:strRef>
          </c:cat>
          <c:val>
            <c:numRef>
              <c:f>Sheet10!$E$5:$E$9</c:f>
              <c:numCache>
                <c:formatCode>General</c:formatCode>
                <c:ptCount val="4"/>
                <c:pt idx="0">
                  <c:v>2340</c:v>
                </c:pt>
                <c:pt idx="1">
                  <c:v>2411</c:v>
                </c:pt>
                <c:pt idx="2">
                  <c:v>2342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9F1-BB44-8EE2-A74FB286B7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03915327"/>
        <c:axId val="1360936479"/>
      </c:barChart>
      <c:catAx>
        <c:axId val="14039153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0936479"/>
        <c:crosses val="autoZero"/>
        <c:auto val="1"/>
        <c:lblAlgn val="ctr"/>
        <c:lblOffset val="100"/>
        <c:noMultiLvlLbl val="0"/>
      </c:catAx>
      <c:valAx>
        <c:axId val="13609364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Count invoice ID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39153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[EveryHome_Supermarket_Ogidi_project3.xlsx]Sheet24!PivotTable9</c:name>
    <c:fmtId val="1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5524759405074365"/>
          <c:y val="7.4112350539515898E-2"/>
          <c:w val="0.55595516185476812"/>
          <c:h val="0.84167468649752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Sheet24!$B$3</c:f>
              <c:strCache>
                <c:ptCount val="1"/>
                <c:pt idx="0">
                  <c:v>Sum of 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Sheet24!$A$4:$A$7</c:f>
              <c:strCache>
                <c:ptCount val="3"/>
                <c:pt idx="0">
                  <c:v>4-6</c:v>
                </c:pt>
                <c:pt idx="1">
                  <c:v>6-8</c:v>
                </c:pt>
                <c:pt idx="2">
                  <c:v>8-10</c:v>
                </c:pt>
              </c:strCache>
            </c:strRef>
          </c:cat>
          <c:val>
            <c:numRef>
              <c:f>Sheet24!$B$4:$B$7</c:f>
              <c:numCache>
                <c:formatCode>General</c:formatCode>
                <c:ptCount val="3"/>
                <c:pt idx="0">
                  <c:v>213427332.98000008</c:v>
                </c:pt>
                <c:pt idx="1">
                  <c:v>225837641.140001</c:v>
                </c:pt>
                <c:pt idx="2">
                  <c:v>227518091.15999985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80-084B-837A-7A074FBF636A}"/>
            </c:ext>
          </c:extLst>
        </c:ser>
        <c:ser>
          <c:idx val="1"/>
          <c:order val="1"/>
          <c:tx>
            <c:strRef>
              <c:f>Sheet24!$C$3</c:f>
              <c:strCache>
                <c:ptCount val="1"/>
                <c:pt idx="0">
                  <c:v>Count of Invoice ID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Sheet24!$A$4:$A$7</c:f>
              <c:strCache>
                <c:ptCount val="3"/>
                <c:pt idx="0">
                  <c:v>4-6</c:v>
                </c:pt>
                <c:pt idx="1">
                  <c:v>6-8</c:v>
                </c:pt>
                <c:pt idx="2">
                  <c:v>8-10</c:v>
                </c:pt>
              </c:strCache>
            </c:strRef>
          </c:cat>
          <c:val>
            <c:numRef>
              <c:f>Sheet24!$C$4:$C$7</c:f>
              <c:numCache>
                <c:formatCode>General</c:formatCode>
                <c:ptCount val="3"/>
                <c:pt idx="0">
                  <c:v>6761</c:v>
                </c:pt>
                <c:pt idx="1">
                  <c:v>7146</c:v>
                </c:pt>
                <c:pt idx="2">
                  <c:v>7093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80-084B-837A-7A074FBF63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51705775"/>
        <c:axId val="1135737919"/>
      </c:barChart>
      <c:catAx>
        <c:axId val="11517057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5737919"/>
        <c:crosses val="autoZero"/>
        <c:auto val="1"/>
        <c:lblAlgn val="ctr"/>
        <c:lblOffset val="100"/>
        <c:noMultiLvlLbl val="0"/>
      </c:catAx>
      <c:valAx>
        <c:axId val="11357379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17057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6DBC-D281-7D82-DB31-ABEDB9EEED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545FA4-8BEC-B3B9-3E95-53EECE464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9B7D3-AC3F-3EE2-D5C3-F414A5FB7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2EF6-1DB4-F143-B8E6-DDCFF327FF3F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EDD5A-87B6-C263-A11F-7CC5153AB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A8859-3D37-1A71-9FAD-4379DFC47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6EF95-4FBD-D742-997D-4D9B5D958A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482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A40A-F9FA-9220-74D2-F28607279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86A7F-99AB-9E1A-392E-2DA112FF8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F0A42-441F-0033-D0DB-DC436A313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2EF6-1DB4-F143-B8E6-DDCFF327FF3F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FBD0E-740E-EEBA-4FA9-FA822D188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74067-2B78-8D34-89F2-7A46B9C4C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6EF95-4FBD-D742-997D-4D9B5D958A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484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22343-1440-E9A2-D435-21A891D06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F304B6-5F84-2174-2611-E828C2673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2B64D-8834-5B65-6ECE-A5AEA28E3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2EF6-1DB4-F143-B8E6-DDCFF327FF3F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67DCB-C973-A100-6482-F12C26C7E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9BCEB-021E-8BB4-CCE1-6503668CA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6EF95-4FBD-D742-997D-4D9B5D958A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440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69952-A966-C77C-CE70-CDC8F6134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77FAC-C281-C405-E528-B5F1F4A03F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1D7973-1147-22DC-BF53-1DAD3C895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C9446B-D15E-0D4C-C108-44AFC65F3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2EF6-1DB4-F143-B8E6-DDCFF327FF3F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1C518-5598-FF25-6766-947BECA39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0F4A3-117B-8792-C690-9790F3915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6EF95-4FBD-D742-997D-4D9B5D958A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395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C08FA-C2F0-3C55-1DF9-E11EA4CF2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BBA4F-608B-8BBA-DCBF-792E88EBE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6BEB2-993F-FB94-BD58-13B38CB639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4DFAE6-BD96-9341-B141-95EF48713C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21A4BA-6F78-EB21-6CF6-2246FFB8D4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0A9BB4-1BDC-BB59-7344-91F0E4598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2EF6-1DB4-F143-B8E6-DDCFF327FF3F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715F92-25EE-73CA-FEC4-B4AF3E6CE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9CBC70-1B60-0C14-D0AA-BEB176A0B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6EF95-4FBD-D742-997D-4D9B5D958A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669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5E114-AF95-4538-49A9-6B077E1DB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E09C9E-4B05-BA44-E0AB-5525F1E81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2EF6-1DB4-F143-B8E6-DDCFF327FF3F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3F3DD-C096-795B-D63A-069070BA3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8BAF08-5F40-F53E-1578-128273349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6EF95-4FBD-D742-997D-4D9B5D958A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235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B7DF90-4F1D-1DA3-6828-1F494DB4E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2EF6-1DB4-F143-B8E6-DDCFF327FF3F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D73641-C96B-FFAA-35B7-6E359C127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9BC089-90F7-3FBE-D2F8-23B3BCD5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6EF95-4FBD-D742-997D-4D9B5D958A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178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19D85-37E8-3B65-F1C7-84E1C6606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5801B-F50D-D78D-44D2-760641AF9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DCF039-1B07-84BF-F3B6-2F3CEFC73C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83F9E-ED29-AF7B-4F8B-E6854A68C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2EF6-1DB4-F143-B8E6-DDCFF327FF3F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95790-E900-585B-83D5-67A2FDCBD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ECFB0-C275-23FB-07CF-9E7DC57E4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6EF95-4FBD-D742-997D-4D9B5D958A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228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3E051-97D1-2CBE-6AF0-1BDE1A15C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7ECCC8-52E6-F3DC-E96F-6E2B6C33F3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319B8-6047-2EF9-38F9-9FD53E5D20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F44CB-865F-E4A4-FA34-E6E2FFF6B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2EF6-1DB4-F143-B8E6-DDCFF327FF3F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BD0ED8-2815-F23E-E560-A32F38471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CD062E-C938-09CE-4EC8-03B813C75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6EF95-4FBD-D742-997D-4D9B5D958A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036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2473C-85E1-BA24-8A3F-F0E32A951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E2CF5A-58A9-B6CF-352B-C412E440B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0DF90-FA5D-C59E-AFB9-7FF2FCC4D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2EF6-1DB4-F143-B8E6-DDCFF327FF3F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BBC43-C257-4D76-4867-6825998DE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1B5F9-A2A7-8D70-5301-B7CBF11C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6EF95-4FBD-D742-997D-4D9B5D958A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235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08E51B-6CEA-50D3-728F-914519142B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F2392-AE40-BFCC-EF6B-80A2C89F6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1C4D1-97F7-6DD5-D84B-D79D59912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2EF6-1DB4-F143-B8E6-DDCFF327FF3F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66F5A-AA83-0FAD-3F69-A3ECF43CF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3D2BB-9DA6-BD0F-3DA2-B3CECBBAD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6EF95-4FBD-D742-997D-4D9B5D958A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573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A1478A-C200-0813-599E-339486589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4DADD-9FBB-3D97-BA2C-4B1524574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A5CC8-1D18-2FF1-E8F0-94FDA90D5F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F2EF6-1DB4-F143-B8E6-DDCFF327FF3F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166ED-1074-22AC-1758-74EF10E405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7DC48-C50E-65A8-053B-5393F5C3C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6EF95-4FBD-D742-997D-4D9B5D958A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442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chart" Target="../charts/chart6.xml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17" Type="http://schemas.openxmlformats.org/officeDocument/2006/relationships/image" Target="../media/image20.svg"/><Relationship Id="rId2" Type="http://schemas.openxmlformats.org/officeDocument/2006/relationships/chart" Target="../charts/chart5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5" Type="http://schemas.openxmlformats.org/officeDocument/2006/relationships/image" Target="../media/image1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Relationship Id="rId1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6F48-D281-65D3-4CDC-561999AE6D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EveryHome</a:t>
            </a:r>
            <a:r>
              <a:rPr lang="en-US" dirty="0"/>
              <a:t> Supermarket Sales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49CBD8-C400-96CE-1D08-707AEBF3B7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Presenter Name: Emmanuel Okafor I.</a:t>
            </a:r>
          </a:p>
          <a:p>
            <a:r>
              <a:rPr lang="en-US" dirty="0"/>
              <a:t>Designation: Data Analyst</a:t>
            </a:r>
          </a:p>
        </p:txBody>
      </p:sp>
    </p:spTree>
    <p:extLst>
      <p:ext uri="{BB962C8B-B14F-4D97-AF65-F5344CB8AC3E}">
        <p14:creationId xmlns:p14="http://schemas.microsoft.com/office/powerpoint/2010/main" val="3204428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FDB3F-A5C5-A536-51E2-82DDF2E37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924F8-74E4-E9DF-FD02-90F4E8971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Understaffed or overwhelmed staff across 3 branches; could it be the reason for customers complain about wait times?</a:t>
            </a:r>
          </a:p>
          <a:p>
            <a:r>
              <a:rPr lang="en-US" dirty="0"/>
              <a:t>Membership loyalty program audit</a:t>
            </a:r>
          </a:p>
          <a:p>
            <a:r>
              <a:rPr lang="en-US" dirty="0"/>
              <a:t>Marketing spend efficiency review</a:t>
            </a:r>
          </a:p>
          <a:p>
            <a:r>
              <a:rPr lang="en-US" dirty="0"/>
              <a:t>Why the low customer satisfaction experience</a:t>
            </a:r>
          </a:p>
        </p:txBody>
      </p:sp>
    </p:spTree>
    <p:extLst>
      <p:ext uri="{BB962C8B-B14F-4D97-AF65-F5344CB8AC3E}">
        <p14:creationId xmlns:p14="http://schemas.microsoft.com/office/powerpoint/2010/main" val="687396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47258-8528-82AB-7231-EAA6DE9A3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of the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20369-A2AE-D8FD-C37E-007C7EB40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analyze the dataset of the organization using KPIs.</a:t>
            </a:r>
          </a:p>
          <a:p>
            <a:r>
              <a:rPr lang="en-US" dirty="0"/>
              <a:t>To design an interactive dashboard that gives insights and answer some burning questions.</a:t>
            </a:r>
          </a:p>
          <a:p>
            <a:r>
              <a:rPr lang="en-US" dirty="0"/>
              <a:t>Prepare presentation slides that captures all the activities, insights and explanation.</a:t>
            </a:r>
          </a:p>
          <a:p>
            <a:r>
              <a:rPr lang="en-US" dirty="0"/>
              <a:t>Give recommendation based on findings.</a:t>
            </a:r>
          </a:p>
        </p:txBody>
      </p:sp>
    </p:spTree>
    <p:extLst>
      <p:ext uri="{BB962C8B-B14F-4D97-AF65-F5344CB8AC3E}">
        <p14:creationId xmlns:p14="http://schemas.microsoft.com/office/powerpoint/2010/main" val="2824872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876E3-3E67-A263-D08C-30FB79FC0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6FC45-80DE-7156-36A7-43DD5B99C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 dataset used</a:t>
            </a:r>
          </a:p>
          <a:p>
            <a:r>
              <a:rPr lang="en-US" dirty="0"/>
              <a:t>Main columns used includes: invoice ID, City, Customer Type, Gender, Payment, Product Line, Quantity, Total, COGS, Time, Day, Month, Rating</a:t>
            </a:r>
          </a:p>
          <a:p>
            <a:r>
              <a:rPr lang="en-US" dirty="0"/>
              <a:t>Data transformation was carried out in splitting date column into 3 columns of Day, Month and Year. Creating Day column in text format.</a:t>
            </a:r>
          </a:p>
        </p:txBody>
      </p:sp>
    </p:spTree>
    <p:extLst>
      <p:ext uri="{BB962C8B-B14F-4D97-AF65-F5344CB8AC3E}">
        <p14:creationId xmlns:p14="http://schemas.microsoft.com/office/powerpoint/2010/main" val="2724581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B135A-C724-BB4B-4EF7-261E560D5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Metrics (KPIs)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D4CFF-C45C-617D-F31A-8C0FAC8DC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transaction = 21,000</a:t>
            </a:r>
          </a:p>
          <a:p>
            <a:r>
              <a:rPr lang="en-US" dirty="0"/>
              <a:t>Sum of Total amount paid by customer = 666,783,065.3</a:t>
            </a:r>
          </a:p>
          <a:p>
            <a:r>
              <a:rPr lang="en-US" dirty="0"/>
              <a:t>Sum of Quantity Purchased = 115541</a:t>
            </a:r>
          </a:p>
        </p:txBody>
      </p:sp>
    </p:spTree>
    <p:extLst>
      <p:ext uri="{BB962C8B-B14F-4D97-AF65-F5344CB8AC3E}">
        <p14:creationId xmlns:p14="http://schemas.microsoft.com/office/powerpoint/2010/main" val="2055061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EE433-840A-E969-3DA8-B525B398B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Rush Hour Vs Foot traffic across branches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A8E47FF-1CA2-E659-48A3-C08B9D583B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6974062"/>
              </p:ext>
            </p:extLst>
          </p:nvPr>
        </p:nvGraphicFramePr>
        <p:xfrm>
          <a:off x="349250" y="1854994"/>
          <a:ext cx="2273300" cy="34536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9218">
                  <a:extLst>
                    <a:ext uri="{9D8B030D-6E8A-4147-A177-3AD203B41FA5}">
                      <a16:colId xmlns:a16="http://schemas.microsoft.com/office/drawing/2014/main" val="83397040"/>
                    </a:ext>
                  </a:extLst>
                </a:gridCol>
                <a:gridCol w="1284082">
                  <a:extLst>
                    <a:ext uri="{9D8B030D-6E8A-4147-A177-3AD203B41FA5}">
                      <a16:colId xmlns:a16="http://schemas.microsoft.com/office/drawing/2014/main" val="418189212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43636906"/>
                  </a:ext>
                </a:extLst>
              </a:tr>
              <a:tr h="50006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Row Labels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Count of Invoice ID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9222672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50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1791049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10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61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5848628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11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48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5825052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12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50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6862823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13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60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369528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14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49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440499"/>
                  </a:ext>
                </a:extLst>
              </a:tr>
              <a:tr h="213201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15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 dirty="0">
                          <a:effectLst/>
                        </a:rPr>
                        <a:t>51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4331629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16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 dirty="0">
                          <a:effectLst/>
                        </a:rPr>
                        <a:t>51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5903967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17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45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1965322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18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45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3735149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19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53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5256930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20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63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5045472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Grand Total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626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9219143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2446225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16106207"/>
                  </a:ext>
                </a:extLst>
              </a:tr>
            </a:tbl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DB21B1E8-69FD-664B-A8A7-02ED4838FD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5188448"/>
              </p:ext>
            </p:extLst>
          </p:nvPr>
        </p:nvGraphicFramePr>
        <p:xfrm>
          <a:off x="2870200" y="1854994"/>
          <a:ext cx="6807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9" name="Graphic 8">
            <a:extLst>
              <a:ext uri="{FF2B5EF4-FFF2-40B4-BE49-F238E27FC236}">
                <a16:creationId xmlns:a16="http://schemas.microsoft.com/office/drawing/2014/main" id="{642CA876-BB90-79BD-2478-2604256A06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04400" y="2305917"/>
            <a:ext cx="1778000" cy="255175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FA438A9-C1D0-0AD2-4108-E9F0DBD318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45518" y="4637088"/>
            <a:ext cx="1416982" cy="203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180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41D6A-7CD0-04A2-F3B1-937D0970D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 Vs Normal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732ACA1-F36D-5D7D-0A7E-418E890A7D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9474453"/>
              </p:ext>
            </p:extLst>
          </p:nvPr>
        </p:nvGraphicFramePr>
        <p:xfrm>
          <a:off x="342900" y="1690688"/>
          <a:ext cx="10515599" cy="1385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3473">
                  <a:extLst>
                    <a:ext uri="{9D8B030D-6E8A-4147-A177-3AD203B41FA5}">
                      <a16:colId xmlns:a16="http://schemas.microsoft.com/office/drawing/2014/main" val="547824949"/>
                    </a:ext>
                  </a:extLst>
                </a:gridCol>
                <a:gridCol w="1276624">
                  <a:extLst>
                    <a:ext uri="{9D8B030D-6E8A-4147-A177-3AD203B41FA5}">
                      <a16:colId xmlns:a16="http://schemas.microsoft.com/office/drawing/2014/main" val="629243138"/>
                    </a:ext>
                  </a:extLst>
                </a:gridCol>
                <a:gridCol w="1109560">
                  <a:extLst>
                    <a:ext uri="{9D8B030D-6E8A-4147-A177-3AD203B41FA5}">
                      <a16:colId xmlns:a16="http://schemas.microsoft.com/office/drawing/2014/main" val="1013089221"/>
                    </a:ext>
                  </a:extLst>
                </a:gridCol>
                <a:gridCol w="1276624">
                  <a:extLst>
                    <a:ext uri="{9D8B030D-6E8A-4147-A177-3AD203B41FA5}">
                      <a16:colId xmlns:a16="http://schemas.microsoft.com/office/drawing/2014/main" val="1787075150"/>
                    </a:ext>
                  </a:extLst>
                </a:gridCol>
                <a:gridCol w="1109560">
                  <a:extLst>
                    <a:ext uri="{9D8B030D-6E8A-4147-A177-3AD203B41FA5}">
                      <a16:colId xmlns:a16="http://schemas.microsoft.com/office/drawing/2014/main" val="513383264"/>
                    </a:ext>
                  </a:extLst>
                </a:gridCol>
                <a:gridCol w="1639122">
                  <a:extLst>
                    <a:ext uri="{9D8B030D-6E8A-4147-A177-3AD203B41FA5}">
                      <a16:colId xmlns:a16="http://schemas.microsoft.com/office/drawing/2014/main" val="2926455554"/>
                    </a:ext>
                  </a:extLst>
                </a:gridCol>
                <a:gridCol w="1475210">
                  <a:extLst>
                    <a:ext uri="{9D8B030D-6E8A-4147-A177-3AD203B41FA5}">
                      <a16:colId xmlns:a16="http://schemas.microsoft.com/office/drawing/2014/main" val="2467339969"/>
                    </a:ext>
                  </a:extLst>
                </a:gridCol>
                <a:gridCol w="822713">
                  <a:extLst>
                    <a:ext uri="{9D8B030D-6E8A-4147-A177-3AD203B41FA5}">
                      <a16:colId xmlns:a16="http://schemas.microsoft.com/office/drawing/2014/main" val="3914399922"/>
                    </a:ext>
                  </a:extLst>
                </a:gridCol>
                <a:gridCol w="822713">
                  <a:extLst>
                    <a:ext uri="{9D8B030D-6E8A-4147-A177-3AD203B41FA5}">
                      <a16:colId xmlns:a16="http://schemas.microsoft.com/office/drawing/2014/main" val="2167143717"/>
                    </a:ext>
                  </a:extLst>
                </a:gridCol>
              </a:tblGrid>
              <a:tr h="201980"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Column Labels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extLst>
                  <a:ext uri="{0D108BD9-81ED-4DB2-BD59-A6C34878D82A}">
                    <a16:rowId xmlns:a16="http://schemas.microsoft.com/office/drawing/2014/main" val="2535160944"/>
                  </a:ext>
                </a:extLst>
              </a:tr>
              <a:tr h="373032"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Count of Invoice ID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Sum of Total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Total Count of Invoice ID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Total Sum of Total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extLst>
                  <a:ext uri="{0D108BD9-81ED-4DB2-BD59-A6C34878D82A}">
                    <a16:rowId xmlns:a16="http://schemas.microsoft.com/office/drawing/2014/main" val="115847365"/>
                  </a:ext>
                </a:extLst>
              </a:tr>
              <a:tr h="20198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Row Labels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A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B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C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A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B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C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extLst>
                  <a:ext uri="{0D108BD9-81ED-4DB2-BD59-A6C34878D82A}">
                    <a16:rowId xmlns:a16="http://schemas.microsoft.com/office/drawing/2014/main" val="1872832431"/>
                  </a:ext>
                </a:extLst>
              </a:tr>
              <a:tr h="20198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Member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3454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3527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3629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107586074.8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112009662.5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115692196.9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10610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335287934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extLst>
                  <a:ext uri="{0D108BD9-81ED-4DB2-BD59-A6C34878D82A}">
                    <a16:rowId xmlns:a16="http://schemas.microsoft.com/office/drawing/2014/main" val="2912170475"/>
                  </a:ext>
                </a:extLst>
              </a:tr>
              <a:tr h="20198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Normal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3488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3432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3470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111840651.8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107653638.2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112000841.2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10390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331495131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extLst>
                  <a:ext uri="{0D108BD9-81ED-4DB2-BD59-A6C34878D82A}">
                    <a16:rowId xmlns:a16="http://schemas.microsoft.com/office/drawing/2014/main" val="318448318"/>
                  </a:ext>
                </a:extLst>
              </a:tr>
              <a:tr h="20198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Grand Total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6942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6959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7099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219426726.6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219663300.7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227693038.1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21000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 dirty="0">
                          <a:effectLst/>
                        </a:rPr>
                        <a:t>666783065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68" marR="9468" marT="9468" marB="0" anchor="b"/>
                </a:tc>
                <a:extLst>
                  <a:ext uri="{0D108BD9-81ED-4DB2-BD59-A6C34878D82A}">
                    <a16:rowId xmlns:a16="http://schemas.microsoft.com/office/drawing/2014/main" val="3530174899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5F94352-2249-F942-81A3-B5887E0B7E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1341291"/>
              </p:ext>
            </p:extLst>
          </p:nvPr>
        </p:nvGraphicFramePr>
        <p:xfrm>
          <a:off x="241300" y="3289300"/>
          <a:ext cx="5969000" cy="259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B694DCE-760D-D158-B144-328C428568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00447"/>
              </p:ext>
            </p:extLst>
          </p:nvPr>
        </p:nvGraphicFramePr>
        <p:xfrm>
          <a:off x="6591300" y="3308351"/>
          <a:ext cx="4610101" cy="31862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5815">
                  <a:extLst>
                    <a:ext uri="{9D8B030D-6E8A-4147-A177-3AD203B41FA5}">
                      <a16:colId xmlns:a16="http://schemas.microsoft.com/office/drawing/2014/main" val="109221931"/>
                    </a:ext>
                  </a:extLst>
                </a:gridCol>
                <a:gridCol w="1266683">
                  <a:extLst>
                    <a:ext uri="{9D8B030D-6E8A-4147-A177-3AD203B41FA5}">
                      <a16:colId xmlns:a16="http://schemas.microsoft.com/office/drawing/2014/main" val="3149240766"/>
                    </a:ext>
                  </a:extLst>
                </a:gridCol>
                <a:gridCol w="1100920">
                  <a:extLst>
                    <a:ext uri="{9D8B030D-6E8A-4147-A177-3AD203B41FA5}">
                      <a16:colId xmlns:a16="http://schemas.microsoft.com/office/drawing/2014/main" val="2015723029"/>
                    </a:ext>
                  </a:extLst>
                </a:gridCol>
                <a:gridCol w="1266683">
                  <a:extLst>
                    <a:ext uri="{9D8B030D-6E8A-4147-A177-3AD203B41FA5}">
                      <a16:colId xmlns:a16="http://schemas.microsoft.com/office/drawing/2014/main" val="3856715037"/>
                    </a:ext>
                  </a:extLst>
                </a:gridCol>
              </a:tblGrid>
              <a:tr h="228324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>
                          <a:effectLst/>
                        </a:rPr>
                        <a:t>Branch A : New York</a:t>
                      </a:r>
                      <a:endParaRPr lang="en-GB" sz="1400" b="0" i="0" u="none" strike="noStrike">
                        <a:solidFill>
                          <a:srgbClr val="ED7D3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62358897"/>
                  </a:ext>
                </a:extLst>
              </a:tr>
              <a:tr h="192273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Member : Averagge spend per customer = 107586075/3454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534825"/>
                  </a:ext>
                </a:extLst>
              </a:tr>
              <a:tr h="192273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31148.3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75438480"/>
                  </a:ext>
                </a:extLst>
              </a:tr>
              <a:tr h="192273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Normal : Avg. spend per customer = 111840652/3488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4866778"/>
                  </a:ext>
                </a:extLst>
              </a:tr>
              <a:tr h="192273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32064.4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55572299"/>
                  </a:ext>
                </a:extLst>
              </a:tr>
              <a:tr h="228324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>
                          <a:effectLst/>
                        </a:rPr>
                        <a:t>Branch B : Austin</a:t>
                      </a:r>
                      <a:endParaRPr lang="en-GB" sz="1400" b="0" i="0" u="none" strike="noStrike">
                        <a:solidFill>
                          <a:srgbClr val="30549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69861569"/>
                  </a:ext>
                </a:extLst>
              </a:tr>
              <a:tr h="192273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Member : Avg. spend = 112009662/3527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94876990"/>
                  </a:ext>
                </a:extLst>
              </a:tr>
              <a:tr h="192273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31757.8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58564001"/>
                  </a:ext>
                </a:extLst>
              </a:tr>
              <a:tr h="192273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Normal : Avg. spend = 107653638/3432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83009935"/>
                  </a:ext>
                </a:extLst>
              </a:tr>
              <a:tr h="192273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31367.6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32260137"/>
                  </a:ext>
                </a:extLst>
              </a:tr>
              <a:tr h="228324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>
                          <a:effectLst/>
                        </a:rPr>
                        <a:t>Branch C : Chicago</a:t>
                      </a:r>
                      <a:endParaRPr lang="en-GB" sz="1400" b="0" i="0" u="none" strike="noStrike">
                        <a:solidFill>
                          <a:srgbClr val="833C0C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93757348"/>
                  </a:ext>
                </a:extLst>
              </a:tr>
              <a:tr h="192273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Member : Avg. spend = 115692197/3629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55134725"/>
                  </a:ext>
                </a:extLst>
              </a:tr>
              <a:tr h="192273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31879.9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07749852"/>
                  </a:ext>
                </a:extLst>
              </a:tr>
              <a:tr h="192273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Normal : Avg. spend = 112000841/3470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3450524"/>
                  </a:ext>
                </a:extLst>
              </a:tr>
              <a:tr h="192273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32276.9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63225441"/>
                  </a:ext>
                </a:extLst>
              </a:tr>
              <a:tr h="192273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85628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5712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94205-A53C-3E97-173C-F2901E783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Ads for Electronics, Health &amp; Beauty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F794554-96B7-1A4C-A563-A665144BB6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4259360"/>
              </p:ext>
            </p:extLst>
          </p:nvPr>
        </p:nvGraphicFramePr>
        <p:xfrm>
          <a:off x="317500" y="1854200"/>
          <a:ext cx="6845300" cy="1943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0FA8CFA-2B19-3B41-BCBD-671ED7A827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0782554"/>
              </p:ext>
            </p:extLst>
          </p:nvPr>
        </p:nvGraphicFramePr>
        <p:xfrm>
          <a:off x="946150" y="4114800"/>
          <a:ext cx="53213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Graphic 5">
            <a:extLst>
              <a:ext uri="{FF2B5EF4-FFF2-40B4-BE49-F238E27FC236}">
                <a16:creationId xmlns:a16="http://schemas.microsoft.com/office/drawing/2014/main" id="{ECC46596-A781-A1BA-F67C-A2ADDFE442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74000" y="1854200"/>
            <a:ext cx="2120900" cy="3043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39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8D57A-7808-EDFB-E604-29629191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rating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52100F0F-AB92-CC30-8D6E-2A72723B33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2985335"/>
              </p:ext>
            </p:extLst>
          </p:nvPr>
        </p:nvGraphicFramePr>
        <p:xfrm>
          <a:off x="4709529" y="1143000"/>
          <a:ext cx="5958470" cy="353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" imgW="0" imgH="0" progId="">
                  <p:embed/>
                </p:oleObj>
              </mc:Choice>
              <mc:Fallback>
                <p:oleObj r:id="" imgW="0" imgH="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/>
                    <p:spPr>
                      <a:xfrm>
                        <a:off x="4709529" y="1143000"/>
                        <a:ext cx="5958470" cy="353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1B9808B-2EB7-3A73-F043-31CE31C5F8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719138"/>
          <a:ext cx="9144000" cy="541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" imgW="0" imgH="0" progId="">
                  <p:embed/>
                </p:oleObj>
              </mc:Choice>
              <mc:Fallback>
                <p:oleObj r:id="" imgW="0" imgH="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/>
                    <p:spPr>
                      <a:xfrm>
                        <a:off x="1524000" y="719138"/>
                        <a:ext cx="9144000" cy="5418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88AA4671-A7F7-9741-ABDB-7D216F647A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633888"/>
              </p:ext>
            </p:extLst>
          </p:nvPr>
        </p:nvGraphicFramePr>
        <p:xfrm>
          <a:off x="152400" y="1685925"/>
          <a:ext cx="4826000" cy="244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9A5955DB-AB84-A140-AEE2-52642A335C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719138"/>
          <a:ext cx="9144000" cy="541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" imgW="0" imgH="0" progId="">
                  <p:embed/>
                </p:oleObj>
              </mc:Choice>
              <mc:Fallback>
                <p:oleObj r:id="" imgW="0" imgH="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/>
                    <p:spPr>
                      <a:xfrm>
                        <a:off x="1524000" y="719138"/>
                        <a:ext cx="9144000" cy="5418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A5AB40C6-BD93-7329-A3E7-1E482F92E7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719138"/>
          <a:ext cx="9144000" cy="541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" imgW="0" imgH="0" progId="">
                  <p:embed/>
                </p:oleObj>
              </mc:Choice>
              <mc:Fallback>
                <p:oleObj r:id="" imgW="0" imgH="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/>
                    <p:spPr>
                      <a:xfrm>
                        <a:off x="1524000" y="719138"/>
                        <a:ext cx="9144000" cy="5418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17ADE008-28FE-2424-98A4-EAC0F77DCF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2341998"/>
              </p:ext>
            </p:extLst>
          </p:nvPr>
        </p:nvGraphicFramePr>
        <p:xfrm>
          <a:off x="7018972" y="3975100"/>
          <a:ext cx="3649027" cy="216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" imgW="0" imgH="0" progId="">
                  <p:embed/>
                </p:oleObj>
              </mc:Choice>
              <mc:Fallback>
                <p:oleObj r:id="" imgW="0" imgH="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/>
                    <p:spPr>
                      <a:xfrm>
                        <a:off x="7018972" y="3975100"/>
                        <a:ext cx="3649027" cy="2162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8EE3278A-5081-4A4E-AFEA-13BC9E4F5C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408777"/>
              </p:ext>
            </p:extLst>
          </p:nvPr>
        </p:nvGraphicFramePr>
        <p:xfrm>
          <a:off x="5888672" y="161210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4" name="Graphic 13">
            <a:extLst>
              <a:ext uri="{FF2B5EF4-FFF2-40B4-BE49-F238E27FC236}">
                <a16:creationId xmlns:a16="http://schemas.microsoft.com/office/drawing/2014/main" id="{FD2EFB09-F112-C468-D769-F7A54A0E6C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399" y="4750887"/>
            <a:ext cx="1371600" cy="19685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3F5C69F-B5E6-6DF2-45D0-F47724DCF3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97088" y="4653461"/>
            <a:ext cx="1479304" cy="2123075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5B5DE99-D980-7EF5-9FD8-6BC801DFA3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84077" y="4615363"/>
            <a:ext cx="1479304" cy="2123075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19B5943-2175-09E5-5025-26307B6B4C4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91035" y="4596076"/>
            <a:ext cx="1479304" cy="2123075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43A648F-4F3C-ADB0-B1BA-A37314CE2F0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28890" y="4557977"/>
            <a:ext cx="1559273" cy="2237846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A9648CC-0E9C-AB0E-BC05-011C344CA22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442915" y="4538689"/>
            <a:ext cx="1559275" cy="223784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F93DBD99-E341-34D4-1048-3A4D3048C90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400396" y="4538688"/>
            <a:ext cx="1532728" cy="219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997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2BFA7-C501-0B28-5720-C02D123CE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B8740-AA6C-5D86-66A6-DB79B51B6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Members(Customer Type) have more foot traffic and total amount spent at Austin and Chicago branch but reverse is the case at New York branch.</a:t>
            </a:r>
          </a:p>
          <a:p>
            <a:r>
              <a:rPr lang="en-US" dirty="0"/>
              <a:t>Austin and New York branch usually have their peak rush hour at 17hrs while Chicago is at 20hrs.</a:t>
            </a:r>
          </a:p>
          <a:p>
            <a:r>
              <a:rPr lang="en-US" dirty="0"/>
              <a:t>Average Amount spent per customer in New York and Chicago is higher for Normal (Customer type). Only at Austin is average spending per customer higher for Members.</a:t>
            </a:r>
          </a:p>
          <a:p>
            <a:r>
              <a:rPr lang="en-US" dirty="0"/>
              <a:t>More Male purchased Electronics accessories at Chicago and New York while Health &amp; Beauty products were evenly bought from male and female</a:t>
            </a:r>
          </a:p>
          <a:p>
            <a:r>
              <a:rPr lang="en-US" dirty="0"/>
              <a:t>Higher satisfaction rate for customers that paid highest amount.</a:t>
            </a:r>
          </a:p>
          <a:p>
            <a:r>
              <a:rPr lang="en-US" dirty="0"/>
              <a:t>Low ratings appear most on Saturdays followed by Thursdays</a:t>
            </a:r>
          </a:p>
          <a:p>
            <a:r>
              <a:rPr lang="en-US" dirty="0"/>
              <a:t>The value of Ads budget not available so as to determine ROAS or ROI</a:t>
            </a:r>
          </a:p>
        </p:txBody>
      </p:sp>
    </p:spTree>
    <p:extLst>
      <p:ext uri="{BB962C8B-B14F-4D97-AF65-F5344CB8AC3E}">
        <p14:creationId xmlns:p14="http://schemas.microsoft.com/office/powerpoint/2010/main" val="4239150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90860-78F2-0965-9A0C-E1F1BBE91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AB421-57F9-F229-DC94-F1D32AD99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Member loyalty program for New York and Chicago branch should be scrapped. The package can be enhanced for Austin branch and observed for another year.</a:t>
            </a:r>
          </a:p>
          <a:p>
            <a:r>
              <a:rPr lang="en-US" dirty="0"/>
              <a:t>Marketing team should discontinue with the digital ads for Electronics, Health &amp; Beauty products.</a:t>
            </a:r>
          </a:p>
          <a:p>
            <a:r>
              <a:rPr lang="en-US" dirty="0"/>
              <a:t>Customers should not only be encouraged to rate, but also, to give feedback on their shopping experience so as to easily notice cause of dissatisfaction.</a:t>
            </a:r>
          </a:p>
          <a:p>
            <a:r>
              <a:rPr lang="en-US" dirty="0"/>
              <a:t>Periodic trainings for staff on best customer relationship practices.</a:t>
            </a:r>
          </a:p>
          <a:p>
            <a:r>
              <a:rPr lang="en-US" dirty="0"/>
              <a:t>Modern sales software (</a:t>
            </a:r>
            <a:r>
              <a:rPr lang="en-US"/>
              <a:t>CRM etc.)  </a:t>
            </a:r>
            <a:r>
              <a:rPr lang="en-US" dirty="0"/>
              <a:t>should be used to run operations in those three branches.</a:t>
            </a:r>
          </a:p>
        </p:txBody>
      </p:sp>
    </p:spTree>
    <p:extLst>
      <p:ext uri="{BB962C8B-B14F-4D97-AF65-F5344CB8AC3E}">
        <p14:creationId xmlns:p14="http://schemas.microsoft.com/office/powerpoint/2010/main" val="3363771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736AE-3486-CE06-22BE-46D767397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60107-BB14-4D2B-2063-08DCC1B6A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this dashboard, we now understand where the supermarket needs to enhance its operation.</a:t>
            </a:r>
          </a:p>
          <a:p>
            <a:endParaRPr lang="en-US" dirty="0"/>
          </a:p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77840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918</TotalTime>
  <Words>617</Words>
  <Application>Microsoft Macintosh PowerPoint</Application>
  <PresentationFormat>Widescreen</PresentationFormat>
  <Paragraphs>129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EveryHome Supermarket Sales Analysis</vt:lpstr>
      <vt:lpstr>Problem Summary</vt:lpstr>
      <vt:lpstr>Objective of the Analysis</vt:lpstr>
      <vt:lpstr>Dataset Overview</vt:lpstr>
      <vt:lpstr>Key Metrics (KPIs)</vt:lpstr>
      <vt:lpstr>Rush Hour Vs Foot traffic across branches</vt:lpstr>
      <vt:lpstr>Member Vs Normal</vt:lpstr>
      <vt:lpstr>Ads for Electronics, Health &amp; Beauty</vt:lpstr>
      <vt:lpstr>Customer rating</vt:lpstr>
      <vt:lpstr>Summary of Findings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Emmanuel Chek Okafor</dc:creator>
  <cp:lastModifiedBy>Emmanuel Chek Okafor</cp:lastModifiedBy>
  <cp:revision>2</cp:revision>
  <dcterms:created xsi:type="dcterms:W3CDTF">2025-12-14T22:09:38Z</dcterms:created>
  <dcterms:modified xsi:type="dcterms:W3CDTF">2025-12-15T13:28:28Z</dcterms:modified>
</cp:coreProperties>
</file>